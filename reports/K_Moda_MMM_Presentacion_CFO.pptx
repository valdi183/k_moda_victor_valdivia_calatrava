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8DF986-E6CD-4B55-9095-A9FF2F06F4E0}" v="2" dt="2026-04-24T21:42:27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íctor Valdivia" userId="7d4c04215f5b7c2c" providerId="LiveId" clId="{8E342DFF-BFD0-458D-A487-127705AAFF35}"/>
    <pc:docChg chg="undo custSel modSld">
      <pc:chgData name="Víctor Valdivia" userId="7d4c04215f5b7c2c" providerId="LiveId" clId="{8E342DFF-BFD0-458D-A487-127705AAFF35}" dt="2026-04-24T21:44:41.629" v="564" actId="20577"/>
      <pc:docMkLst>
        <pc:docMk/>
      </pc:docMkLst>
      <pc:sldChg chg="modSp mod">
        <pc:chgData name="Víctor Valdivia" userId="7d4c04215f5b7c2c" providerId="LiveId" clId="{8E342DFF-BFD0-458D-A487-127705AAFF35}" dt="2026-04-24T21:41:13.099" v="148" actId="20577"/>
        <pc:sldMkLst>
          <pc:docMk/>
          <pc:sldMk cId="0" sldId="256"/>
        </pc:sldMkLst>
        <pc:spChg chg="mod">
          <ac:chgData name="Víctor Valdivia" userId="7d4c04215f5b7c2c" providerId="LiveId" clId="{8E342DFF-BFD0-458D-A487-127705AAFF35}" dt="2026-04-24T21:41:13.099" v="148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">
        <pc:chgData name="Víctor Valdivia" userId="7d4c04215f5b7c2c" providerId="LiveId" clId="{8E342DFF-BFD0-458D-A487-127705AAFF35}" dt="2026-04-24T21:44:41.629" v="564" actId="20577"/>
        <pc:sldMkLst>
          <pc:docMk/>
          <pc:sldMk cId="0" sldId="257"/>
        </pc:sldMkLst>
        <pc:spChg chg="add del mod">
          <ac:chgData name="Víctor Valdivia" userId="7d4c04215f5b7c2c" providerId="LiveId" clId="{8E342DFF-BFD0-458D-A487-127705AAFF35}" dt="2026-04-24T21:43:45.438" v="448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Víctor Valdivia" userId="7d4c04215f5b7c2c" providerId="LiveId" clId="{8E342DFF-BFD0-458D-A487-127705AAFF35}" dt="2026-04-24T21:44:41.629" v="564" actId="20577"/>
          <ac:spMkLst>
            <pc:docMk/>
            <pc:sldMk cId="0" sldId="257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K-MODA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96F3"/>
                </a:solidFill>
              </a:rPr>
              <a:t>Marketing Mix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BBDEFF"/>
                </a:solidFill>
              </a:rPr>
              <a:t>¿</a:t>
            </a:r>
            <a:r>
              <a:rPr lang="es-ES" sz="1600" i="1" dirty="0">
                <a:solidFill>
                  <a:srgbClr val="BBDEFF"/>
                </a:solidFill>
              </a:rPr>
              <a:t>Realmente sabemos que parte de los 15M€ está funcionando y cuál no?</a:t>
            </a:r>
            <a:endParaRPr sz="1600" b="0" i="1" dirty="0">
              <a:solidFill>
                <a:srgbClr val="BBDE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3749039"/>
            <a:ext cx="2651760" cy="1188720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600"/>
                </a:solidFill>
              </a:rPr>
              <a:t>10 ciudades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89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CAF9"/>
                </a:solidFill>
              </a:rPr>
              <a:t>Panel de datos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749039"/>
            <a:ext cx="2651760" cy="1188720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3794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600"/>
                </a:solidFill>
              </a:rPr>
              <a:t>8 canales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CAF9"/>
                </a:solidFill>
              </a:rPr>
              <a:t>Medios analizados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749039"/>
            <a:ext cx="2651760" cy="1188720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3794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600"/>
                </a:solidFill>
              </a:rPr>
              <a:t>5 años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389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CAF9"/>
                </a:solidFill>
              </a:rPr>
              <a:t>Histórico 2020–2024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90A8"/>
                </a:solidFill>
              </a:rPr>
              <a:t>Víctor Valdivia Calatrava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El </a:t>
            </a:r>
            <a:r>
              <a:rPr sz="2600" b="1" i="0" dirty="0" err="1">
                <a:solidFill>
                  <a:srgbClr val="FFFFFF"/>
                </a:solidFill>
              </a:rPr>
              <a:t>problema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200" dirty="0">
                <a:solidFill>
                  <a:srgbClr val="BBDEFF"/>
                </a:solidFill>
              </a:rPr>
              <a:t>¿Estamos invirtiendo 15M€ en publicidad, pero hoy  no tenemos una forma clara de explicar qué canales están generando esas ventas.</a:t>
            </a:r>
            <a:endParaRPr sz="1200" b="0" i="0" dirty="0">
              <a:solidFill>
                <a:srgbClr val="BBDE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K-Moda  |  Marketing Mix Model  |  Víctor Valdivia Calatrava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056132"/>
            <a:ext cx="12188952" cy="5532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Situación actual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45920"/>
            <a:ext cx="530352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783080"/>
            <a:ext cx="5303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9144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947672"/>
            <a:ext cx="49834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50" b="0" i="0" dirty="0">
                <a:solidFill>
                  <a:srgbClr val="555555"/>
                </a:solidFill>
              </a:rPr>
              <a:t>La publicidad no funciona de un día para </a:t>
            </a:r>
            <a:r>
              <a:rPr lang="es-ES" sz="1050" b="0" i="0" dirty="0" err="1">
                <a:solidFill>
                  <a:srgbClr val="555555"/>
                </a:solidFill>
              </a:rPr>
              <a:t>otr</a:t>
            </a:r>
            <a:r>
              <a:rPr lang="es-ES" sz="1050" b="0" i="0" dirty="0">
                <a:solidFill>
                  <a:srgbClr val="555555"/>
                </a:solidFill>
              </a:rPr>
              <a:t>: algunas campañas siguen generando ventas semanas después</a:t>
            </a:r>
            <a:r>
              <a:rPr sz="1050" b="0" i="0" dirty="0">
                <a:solidFill>
                  <a:srgbClr val="555555"/>
                </a:solidFill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25496"/>
            <a:ext cx="5303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825496"/>
            <a:ext cx="9144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990088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Sin modelo, es imposible separar el efecto de los medios de la estacionalidad.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67911"/>
            <a:ext cx="5303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867911"/>
            <a:ext cx="9144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32503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Canales correlacionados entre sí distorsionan el análisis de contribución.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910328"/>
            <a:ext cx="5303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4910328"/>
            <a:ext cx="9144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No existe visibilidad de qué canales están saturados y cuáles con margen de crecimiento.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2984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La solución: MMM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1645920"/>
            <a:ext cx="539496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46520" y="1783080"/>
            <a:ext cx="53949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46520" y="1783080"/>
            <a:ext cx="91440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1837943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Medimos el efecto retardado de la publicidad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148840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Una campaña de esta semana sigue generando ventas en semanas futuras. El modelo lo cuantifica canal a canal.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825496"/>
            <a:ext cx="53949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46520" y="2825496"/>
            <a:ext cx="91440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9400" y="288036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Identificamos cuándo un canal está saturado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19125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 partir de cierto nivel de inversión, cada euro extra genera cada vez menos ventas. El modelo localiza ese punto.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867911"/>
            <a:ext cx="53949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46520" y="3867911"/>
            <a:ext cx="91440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29400" y="3922775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Separamos la publicidad de la estacionalidad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233672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Aislamos el impacto real de los medios frente al de Navidad, Rebajas u otras causas externas.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910328"/>
            <a:ext cx="53949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46520" y="4910328"/>
            <a:ext cx="91440" cy="9144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9400" y="496519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</a:rPr>
              <a:t>Calculamos el mix óptimo automáticamente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527608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Dado cualquier presupuesto objetivo, el modelo devuelve la distribución entre canales que maximiza ventas.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Qué nos dice 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BDEFF"/>
                </a:solidFill>
              </a:rPr>
              <a:t>Contribución</a:t>
            </a:r>
            <a:r>
              <a:rPr sz="1200" b="0" i="0" dirty="0">
                <a:solidFill>
                  <a:srgbClr val="BBDEFF"/>
                </a:solidFill>
              </a:rPr>
              <a:t> real de </a:t>
            </a:r>
            <a:r>
              <a:rPr sz="1200" b="0" i="0" dirty="0" err="1">
                <a:solidFill>
                  <a:srgbClr val="BBDEFF"/>
                </a:solidFill>
              </a:rPr>
              <a:t>cada</a:t>
            </a:r>
            <a:r>
              <a:rPr sz="1200" b="0" i="0" dirty="0">
                <a:solidFill>
                  <a:srgbClr val="BBDEFF"/>
                </a:solidFill>
              </a:rPr>
              <a:t> canal y </a:t>
            </a:r>
            <a:r>
              <a:rPr sz="1200" b="0" i="0" dirty="0" err="1">
                <a:solidFill>
                  <a:srgbClr val="BBDEFF"/>
                </a:solidFill>
              </a:rPr>
              <a:t>eficiencia</a:t>
            </a:r>
            <a:r>
              <a:rPr sz="1200" b="0" i="0" dirty="0">
                <a:solidFill>
                  <a:srgbClr val="BBDEFF"/>
                </a:solidFill>
              </a:rPr>
              <a:t> marginal de la </a:t>
            </a:r>
            <a:r>
              <a:rPr sz="1200" b="0" i="0" dirty="0" err="1">
                <a:solidFill>
                  <a:srgbClr val="BBDEFF"/>
                </a:solidFill>
              </a:rPr>
              <a:t>inversión</a:t>
            </a:r>
            <a:endParaRPr sz="1200" b="0" i="0" dirty="0">
              <a:solidFill>
                <a:srgbClr val="BBDE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K-Moda  |  Marketing Mix Model  |  Víctor Valdivia Calatrava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056132"/>
            <a:ext cx="12188952" cy="5532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5486400" cy="438912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70432"/>
            <a:ext cx="5852160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11704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Peso% por canal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1704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ROI marginal por canal (€ extra / €1 invertido adicional)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170432"/>
            <a:ext cx="36576" cy="4663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5650992"/>
            <a:ext cx="5303520" cy="475488"/>
          </a:xfrm>
          <a:prstGeom prst="rect">
            <a:avLst/>
          </a:prstGeom>
          <a:solidFill>
            <a:srgbClr val="E3F2FD"/>
          </a:solidFill>
          <a:ln w="1016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57332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4F8A"/>
                </a:solidFill>
              </a:rPr>
              <a:t>✓  Precisión del modelo: R² = 0.88 · MAPE = 9.4% (hold-out 2024)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5650992"/>
            <a:ext cx="5852160" cy="475488"/>
          </a:xfrm>
          <a:prstGeom prst="rect">
            <a:avLst/>
          </a:prstGeom>
          <a:solidFill>
            <a:srgbClr val="FFF9C4"/>
          </a:solidFill>
          <a:ln w="1016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4768" y="5733288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★  Este gráfico muestra el retorno marginal (cada €1 adicional). El ROI total del mix actual es 10.7x (ventas / inversión total).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K-Moda  |  Marketing Mix Model  |  Víctor Valdivia Calatrava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50040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BDEFF"/>
                </a:solidFill>
              </a:rPr>
              <a:t>La oportunidad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77240"/>
            <a:ext cx="11274552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Con 12M€ bien distribuidos
conseguimos las mismas ventas
que con 15.2M€ mal distribuidos.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11274552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3520440" cy="1417320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600"/>
                </a:solidFill>
              </a:rPr>
              <a:t>3.2M€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 ahorro 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CAF9"/>
                </a:solidFill>
              </a:rPr>
              <a:t>sin pérdida apreciable de ventas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108960"/>
            <a:ext cx="3520440" cy="1417320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31546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600"/>
                </a:solidFill>
              </a:rPr>
              <a:t>10.7x → 13.8x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9476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mejora del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605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CAF9"/>
                </a:solidFill>
              </a:rPr>
              <a:t>+29% de eficiencia por euro invertido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108960"/>
            <a:ext cx="3520440" cy="1417320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31546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600"/>
                </a:solidFill>
              </a:rPr>
              <a:t>−0.2%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9476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impacto en ventas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605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CAF9"/>
                </a:solidFill>
              </a:rPr>
              <a:t>prácticamente neutro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11274552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600"/>
                </a:solidFill>
              </a:rPr>
              <a:t>La palanca no es gastar más — es redistribuir mejor.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BDEFF"/>
                </a:solidFill>
              </a:rPr>
              <a:t>Social Paid, Display y Prensa están en zona de saturación: cada euro extra apenas mueve las ventas.
Redirigir ese presupuesto hacia Paid Search y Video Online maximiza el retorno del conjunto.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Plan de redistribución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F"/>
                </a:solidFill>
              </a:rPr>
              <a:t>Mix actual (15.2M€) vs. asignación óptima propuesta (12M€) — por canal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K-Moda  |  Marketing Mix Model  |  Víctor Valdivia Calatrava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056132"/>
            <a:ext cx="12188952" cy="5532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589520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2440" y="12618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Acción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581912"/>
            <a:ext cx="384048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709928"/>
            <a:ext cx="3840480" cy="51206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80136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801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Video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8013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B6B3A"/>
                </a:solidFill>
              </a:rPr>
              <a:t>+48%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276856"/>
            <a:ext cx="3840480" cy="51206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236829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682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Paid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36829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B6B3A"/>
                </a:solidFill>
              </a:rPr>
              <a:t>+12%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2843784"/>
            <a:ext cx="3840480" cy="51206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293522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9352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Radio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29352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B6B3A"/>
                </a:solidFill>
              </a:rPr>
              <a:t> +9%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3410712"/>
            <a:ext cx="3840480" cy="512064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350215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502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Social Paid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502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C62828"/>
                </a:solidFill>
              </a:rPr>
              <a:t>−85%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977639"/>
            <a:ext cx="3840480" cy="512064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0" y="4069079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0690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Display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0690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C62828"/>
                </a:solidFill>
              </a:rPr>
              <a:t>−70%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544568"/>
            <a:ext cx="3840480" cy="512064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0" y="46360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636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Prensa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636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C62828"/>
                </a:solidFill>
              </a:rPr>
              <a:t>−68%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5111496"/>
            <a:ext cx="3840480" cy="512064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38160" y="520293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52029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Exterior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2029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C62828"/>
                </a:solidFill>
              </a:rPr>
              <a:t>−25%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5678424"/>
            <a:ext cx="3840480" cy="512064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0" y="576986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57698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Email/CRM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7698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C62828"/>
                </a:solidFill>
              </a:rPr>
              <a:t>−52%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6254496"/>
            <a:ext cx="38404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38160" y="628192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ROI total: 10.7x  →  13.8x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F"/>
                </a:solidFill>
              </a:rPr>
              <a:t>La decisión de hoy y las herramientas disponibles para implementarla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K-Moda  |  Marketing Mix Model  |  Víctor Valdivia Calatrava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056132"/>
            <a:ext cx="12188952" cy="5532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353312"/>
            <a:ext cx="77724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685800" cy="129844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627632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4447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Implementar el mix óptimo en el próximo ciclo presupuestario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01952"/>
            <a:ext cx="6858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Redirigir 3.2M€ desde canales saturados (Social Paid, Display, Prensa)
hacia canales eficientes (Video Online, Paid Search).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16352"/>
            <a:ext cx="77724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816352"/>
            <a:ext cx="685800" cy="129844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3090672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077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Recalibrar el modelo cada trimestre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364992"/>
            <a:ext cx="6858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El mercado evoluciona. Nuevos datos mejoran la precisión
de los parámetros de adstock y saturación por canal.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79392"/>
            <a:ext cx="77724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4279392"/>
            <a:ext cx="685800" cy="12984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4553712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70831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Extender el análisis a nuevas ciudades y 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28031"/>
            <a:ext cx="6858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Incorporar datos de competencia, atribución digital
y expansión a mercados no incluidos en el modelo actual.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353312"/>
            <a:ext cx="3566160" cy="43159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21040" y="1353312"/>
            <a:ext cx="3566160" cy="502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Dashboard interactivo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1993392"/>
            <a:ext cx="3383280" cy="530352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85632" y="208483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Resumen ejecutivo con KPIs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633472"/>
            <a:ext cx="3383280" cy="530352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85632" y="272491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Contribución y mROI por canal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3273552"/>
            <a:ext cx="3383280" cy="530352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85632" y="336499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Simulador con sliders por canal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913631"/>
            <a:ext cx="3383280" cy="530352"/>
          </a:xfrm>
          <a:prstGeom prst="rect">
            <a:avLst/>
          </a:prstGeom>
          <a:solidFill>
            <a:srgbClr val="1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85632" y="4005071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Optimizador de presupuesto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462272"/>
            <a:ext cx="3566160" cy="1207008"/>
          </a:xfrm>
          <a:prstGeom prst="rect">
            <a:avLst/>
          </a:prstGeom>
          <a:solidFill>
            <a:srgbClr val="0D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94192" y="452628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</a:rPr>
              <a:t>huggingface.co/spaces/
Valdi121/MMM_project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760720"/>
            <a:ext cx="11567160" cy="5669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583387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★  Cada mes de retraso en la implementación supone ~267K€ de inversión subóptima.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682</Words>
  <Application>Microsoft Office PowerPoint</Application>
  <PresentationFormat>Personalizado</PresentationFormat>
  <Paragraphs>102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Valdivia</cp:lastModifiedBy>
  <cp:revision>1</cp:revision>
  <dcterms:created xsi:type="dcterms:W3CDTF">2013-01-27T09:14:16Z</dcterms:created>
  <dcterms:modified xsi:type="dcterms:W3CDTF">2026-04-24T21:49:26Z</dcterms:modified>
  <cp:category/>
</cp:coreProperties>
</file>